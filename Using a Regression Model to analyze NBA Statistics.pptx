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0" r:id="rId17"/>
    <p:sldId id="271" r:id="rId18"/>
    <p:sldId id="274" r:id="rId19"/>
    <p:sldId id="276" r:id="rId20"/>
    <p:sldId id="277" r:id="rId21"/>
    <p:sldId id="275" r:id="rId22"/>
    <p:sldId id="278" r:id="rId23"/>
    <p:sldId id="279" r:id="rId24"/>
    <p:sldId id="294" r:id="rId25"/>
    <p:sldId id="295" r:id="rId26"/>
    <p:sldId id="297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3" r:id="rId40"/>
    <p:sldId id="292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8" y="1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19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73A5D-2CDF-4838-834A-C762D2E75C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1" dirty="0"/>
              <a:t>Using a Regression Model to analyze NBA Statistics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E5624-1497-4CF1-BC4A-E372B0AAB5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EB7D1-1924-459D-9896-12243BF25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Two Main Objectives of Regression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071C6-1B7C-461A-8F69-1002AA32A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Establish if there exists a relationship between two or more variables.</a:t>
            </a:r>
          </a:p>
          <a:p>
            <a:r>
              <a:rPr lang="en-US" dirty="0"/>
              <a:t>--- More specifically, establish if there is a statistically significant relationship between the variables.</a:t>
            </a:r>
          </a:p>
          <a:p>
            <a:r>
              <a:rPr lang="en-US" dirty="0"/>
              <a:t>--- Examples: Income and spending, wage and gender, student height and exam scores.</a:t>
            </a:r>
          </a:p>
          <a:p>
            <a:r>
              <a:rPr lang="en-US" sz="2400" b="1" dirty="0"/>
              <a:t>Forecast new observations.</a:t>
            </a:r>
          </a:p>
          <a:p>
            <a:r>
              <a:rPr lang="en-US" dirty="0"/>
              <a:t>--- Can we use what we know about the relationship to forecast unobserved values?</a:t>
            </a:r>
          </a:p>
          <a:p>
            <a:r>
              <a:rPr lang="en-US" dirty="0"/>
              <a:t>--- Examples: What will our sales be over the next quarter? What will be the profitability of a new store?</a:t>
            </a:r>
          </a:p>
        </p:txBody>
      </p:sp>
    </p:spTree>
    <p:extLst>
      <p:ext uri="{BB962C8B-B14F-4D97-AF65-F5344CB8AC3E}">
        <p14:creationId xmlns:p14="http://schemas.microsoft.com/office/powerpoint/2010/main" val="1940307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4E790-C526-4804-8E39-C7D397707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Variable’s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F7B17-AAE6-4BA8-9503-DBFDE81D5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111642" cy="3880773"/>
          </a:xfrm>
        </p:spPr>
        <p:txBody>
          <a:bodyPr/>
          <a:lstStyle/>
          <a:p>
            <a:r>
              <a:rPr lang="en-US" dirty="0"/>
              <a:t>Dependent variable</a:t>
            </a:r>
          </a:p>
          <a:p>
            <a:r>
              <a:rPr lang="en-US" dirty="0"/>
              <a:t>--- This is the variable whose values we want to explain or forecast.</a:t>
            </a:r>
          </a:p>
          <a:p>
            <a:r>
              <a:rPr lang="en-US" dirty="0"/>
              <a:t>--- Its value depends on something else.</a:t>
            </a:r>
          </a:p>
          <a:p>
            <a:r>
              <a:rPr lang="en-US" dirty="0"/>
              <a:t>--- We denote it as </a:t>
            </a:r>
            <a:r>
              <a:rPr lang="en-US" b="1" dirty="0"/>
              <a:t>Y</a:t>
            </a:r>
            <a:r>
              <a:rPr lang="en-US" dirty="0"/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15D6BAD-8514-495D-A30F-60FFBCCA890B}"/>
              </a:ext>
            </a:extLst>
          </p:cNvPr>
          <p:cNvSpPr txBox="1">
            <a:spLocks/>
          </p:cNvSpPr>
          <p:nvPr/>
        </p:nvSpPr>
        <p:spPr>
          <a:xfrm>
            <a:off x="4975668" y="2160589"/>
            <a:ext cx="4111642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Independent variable</a:t>
            </a:r>
          </a:p>
          <a:p>
            <a:r>
              <a:rPr lang="en-US" dirty="0"/>
              <a:t>--- This is the variable that affects the other one.</a:t>
            </a:r>
          </a:p>
          <a:p>
            <a:r>
              <a:rPr lang="en-US" dirty="0"/>
              <a:t>--- Its value is independent.</a:t>
            </a:r>
          </a:p>
          <a:p>
            <a:r>
              <a:rPr lang="en-US" dirty="0"/>
              <a:t>--- We denote it as </a:t>
            </a:r>
            <a:r>
              <a:rPr lang="en-US" b="1" dirty="0"/>
              <a:t>X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81308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F15C6-44DB-460B-BF25-E80A2E54C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8147"/>
          </a:xfrm>
        </p:spPr>
        <p:txBody>
          <a:bodyPr/>
          <a:lstStyle/>
          <a:p>
            <a:r>
              <a:rPr lang="en-US" dirty="0"/>
              <a:t>Simple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D5794-BC9C-43E0-9F62-5501BDE82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0043"/>
            <a:ext cx="8596668" cy="4501320"/>
          </a:xfrm>
        </p:spPr>
        <p:txBody>
          <a:bodyPr/>
          <a:lstStyle/>
          <a:p>
            <a:r>
              <a:rPr lang="en-US" dirty="0"/>
              <a:t>Use a linear equation to model the relationship between two variables.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EE1C59-18C4-42EE-A72B-EB27E5E74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076203"/>
            <a:ext cx="5182368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D223F3-4CCC-4077-B4B9-6DF89F6C7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300" y="3429000"/>
            <a:ext cx="2591516" cy="56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606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1D877-0E50-4F30-81AC-E4AF656CF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2105"/>
          </a:xfrm>
        </p:spPr>
        <p:txBody>
          <a:bodyPr/>
          <a:lstStyle/>
          <a:p>
            <a:r>
              <a:rPr lang="en-US" dirty="0"/>
              <a:t>Example: Consumption vs. Income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AC826-5F94-40FF-9A24-39025993D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8169"/>
            <a:ext cx="8596668" cy="4453194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Most generally, the intercept may not have an intuitive interpretation.</a:t>
            </a:r>
          </a:p>
          <a:p>
            <a:r>
              <a:rPr lang="en-US" dirty="0"/>
              <a:t>Slope represents the sensitivity of the dependent variable on changes in the independent variable.</a:t>
            </a:r>
          </a:p>
          <a:p>
            <a:r>
              <a:rPr lang="en-US" dirty="0"/>
              <a:t>For every additional unit of income a family has, we estimate its consumption grows by 0.85 units.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6A36AA-53D6-4A10-B396-345FB8491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480" y="1804485"/>
            <a:ext cx="6810375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382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215D1-583A-416F-A99C-DB92DE12B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7FBCA-9EC3-4ACD-A417-862E42ED9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75875"/>
            <a:ext cx="8596668" cy="456548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Use multiple predictor variables to make a prediction about one or more dependent variables.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273615-A7DA-4E6A-A4B8-B68F45ACC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405" y="3176256"/>
            <a:ext cx="648652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954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725D7-16A5-4C7B-86D9-805D77F18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562063"/>
            <a:ext cx="8596668" cy="5479300"/>
          </a:xfrm>
        </p:spPr>
        <p:txBody>
          <a:bodyPr/>
          <a:lstStyle/>
          <a:p>
            <a:r>
              <a:rPr lang="en-US" dirty="0"/>
              <a:t>For multiple dependent variables, we use matrices to represent the model.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write the equation more compactly: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B22F07-D059-4422-A465-1FF5E41C5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261" y="963520"/>
            <a:ext cx="4948813" cy="12822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C8D235-7563-4C71-8C84-61F31F682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487" y="3338229"/>
            <a:ext cx="3875021" cy="15487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BDC20DB-7496-46D2-853C-CC4398F0F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525" y="3407197"/>
            <a:ext cx="3400789" cy="14108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7B5E187-05DA-4370-9087-5E141CB5B4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508" y="5174802"/>
            <a:ext cx="22860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552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F06D4-D80F-4699-A7B5-A96583B99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Analyzing how Turnovers and Shooting percentage affect total points scored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E2A27-C550-4D48-92E2-81914B554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a team increases turnovers by 1, we expect the number of points scored to decrease by 0.980.</a:t>
            </a:r>
          </a:p>
          <a:p>
            <a:r>
              <a:rPr lang="en-US" dirty="0"/>
              <a:t>For each 1% a team’s shooting percentage increases, we expect that team to score 2.522 more points.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204606-3578-435E-B1B1-2B33DC22F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595456"/>
            <a:ext cx="8894690" cy="66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240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1EA52-79D3-4300-A85F-983CD8FDF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8358"/>
          </a:xfrm>
        </p:spPr>
        <p:txBody>
          <a:bodyPr/>
          <a:lstStyle/>
          <a:p>
            <a:r>
              <a:rPr lang="en-US" dirty="0"/>
              <a:t>The method of Least Squares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C5789-093B-4E5B-81C8-872620A3F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7959"/>
            <a:ext cx="8596668" cy="4533404"/>
          </a:xfrm>
        </p:spPr>
        <p:txBody>
          <a:bodyPr/>
          <a:lstStyle/>
          <a:p>
            <a:r>
              <a:rPr lang="en-US" dirty="0"/>
              <a:t>Used to estimate parameters of a linear regression.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C3B76-3795-4614-B0C6-8D5FE9103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36" y="2360084"/>
            <a:ext cx="3303331" cy="3984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943131-7330-4166-A4ED-79366E2B1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2268" y="2205968"/>
            <a:ext cx="2527883" cy="7066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FE91BE-104C-482C-8B61-15BC92A45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11" y="3330462"/>
            <a:ext cx="3713529" cy="1549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78555B-AF20-4735-AF00-2034D952A7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5473" y="3271739"/>
            <a:ext cx="4287451" cy="141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469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1D309-C6ED-4934-80C6-D81AEE4CF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56" y="444618"/>
            <a:ext cx="8596668" cy="5621912"/>
          </a:xfrm>
        </p:spPr>
        <p:txBody>
          <a:bodyPr/>
          <a:lstStyle/>
          <a:p>
            <a:r>
              <a:rPr lang="en-US" dirty="0"/>
              <a:t>To make sure the critical point is not a saddle: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B5A516-BFCD-4F75-805A-B220E2AB7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37" y="875799"/>
            <a:ext cx="4294726" cy="1415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E17EB5-5E5D-46CD-9F37-DB0860D3F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123" y="874001"/>
            <a:ext cx="3327818" cy="15168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15A4CD-9877-4AB3-93E9-AC9C9D13F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337" y="2487910"/>
            <a:ext cx="4294725" cy="6715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4500A4-194C-46F1-87F2-0FEEAE9AFA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6918" y="3456682"/>
            <a:ext cx="2099562" cy="5019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E244CA-AD59-4678-9013-7E53FE56D4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918" y="4130033"/>
            <a:ext cx="2099562" cy="4829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7986FBF-C5AE-4E2E-B321-0BF3ED28B2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337" y="4966093"/>
            <a:ext cx="5553074" cy="72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32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D1247-DA49-4605-874F-8C97EF5B5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27839"/>
            <a:ext cx="8596668" cy="5613523"/>
          </a:xfrm>
        </p:spPr>
        <p:txBody>
          <a:bodyPr/>
          <a:lstStyle/>
          <a:p>
            <a:r>
              <a:rPr lang="en-US" dirty="0"/>
              <a:t>To make sure the critical point is a minimum: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Therefore our least square estimates are: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For multiple linear regression: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51E2DB-DC9F-4B55-9006-7DBB85AD5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910" y="915100"/>
            <a:ext cx="2322701" cy="15168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B640D0-6587-4A08-BF91-EA79D9AFC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673" y="2852657"/>
            <a:ext cx="3457542" cy="11443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656A2F-417C-4925-BE0B-A49646D8E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7332" y="3147782"/>
            <a:ext cx="1783761" cy="5541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47C072-A5BE-439C-9289-3784081109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0583" y="4690768"/>
            <a:ext cx="2783353" cy="65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129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ACA06-5995-4626-839A-A211139D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43824"/>
            <a:ext cx="8596668" cy="930442"/>
          </a:xfrm>
        </p:spPr>
        <p:txBody>
          <a:bodyPr/>
          <a:lstStyle/>
          <a:p>
            <a:r>
              <a:rPr lang="en-US" dirty="0"/>
              <a:t>Examples of Binary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48BE9-20D2-4FB5-847D-793EBEB31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28801"/>
            <a:ext cx="8596668" cy="421256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Should a bank give a person a loan or not?</a:t>
            </a:r>
          </a:p>
          <a:p>
            <a:r>
              <a:rPr lang="en-US" dirty="0"/>
              <a:t>Is a particular student is admitted into a school?</a:t>
            </a:r>
          </a:p>
          <a:p>
            <a:r>
              <a:rPr lang="en-US" dirty="0"/>
              <a:t>Is a person voting against a new law?</a:t>
            </a:r>
          </a:p>
        </p:txBody>
      </p:sp>
    </p:spTree>
    <p:extLst>
      <p:ext uri="{BB962C8B-B14F-4D97-AF65-F5344CB8AC3E}">
        <p14:creationId xmlns:p14="http://schemas.microsoft.com/office/powerpoint/2010/main" val="1776805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1F3B3-97CB-43BA-A7DC-5A726D3CC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34189"/>
          </a:xfrm>
        </p:spPr>
        <p:txBody>
          <a:bodyPr/>
          <a:lstStyle/>
          <a:p>
            <a:r>
              <a:rPr lang="en-US" dirty="0"/>
              <a:t>Representing the Binary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49804-FA72-49CB-83CE-094F05D19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4211"/>
            <a:ext cx="8596668" cy="4437151"/>
          </a:xfrm>
        </p:spPr>
        <p:txBody>
          <a:bodyPr/>
          <a:lstStyle/>
          <a:p>
            <a:r>
              <a:rPr lang="en-US" dirty="0"/>
              <a:t>There are two outcomes: </a:t>
            </a:r>
            <a:r>
              <a:rPr lang="en-US" b="1" dirty="0"/>
              <a:t>Yes</a:t>
            </a:r>
            <a:r>
              <a:rPr lang="en-US" dirty="0"/>
              <a:t> and </a:t>
            </a:r>
            <a:r>
              <a:rPr lang="en-US" b="1" dirty="0"/>
              <a:t>No</a:t>
            </a:r>
          </a:p>
          <a:p>
            <a:r>
              <a:rPr lang="en-US" dirty="0"/>
              <a:t>We will create a dummy variable to indicate if an observation is Yes or No: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Example: Analyzing how age influences customers’ subscription to a magazine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Every additional year of age increases the probability of subscription by 6.4%.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D85A52-3A20-4082-ACA3-0155479BF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917" y="2444411"/>
            <a:ext cx="1949617" cy="9845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57BF28-254E-4CD7-BC2F-2943EFD8E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831" y="4151866"/>
            <a:ext cx="3885185" cy="483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4A2560-D212-420B-B155-ABC537BB7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7259" y="4752955"/>
            <a:ext cx="5258757" cy="50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196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00770-6DA9-4204-A627-8C2A0B7B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8147"/>
          </a:xfrm>
        </p:spPr>
        <p:txBody>
          <a:bodyPr/>
          <a:lstStyle/>
          <a:p>
            <a:r>
              <a:rPr lang="en-US" dirty="0"/>
              <a:t>Problem of this linear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F8146-602B-4668-83E5-625646F3C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0043"/>
            <a:ext cx="8596668" cy="4501320"/>
          </a:xfrm>
        </p:spPr>
        <p:txBody>
          <a:bodyPr/>
          <a:lstStyle/>
          <a:p>
            <a:r>
              <a:rPr lang="en-US" dirty="0"/>
              <a:t>Try to predict the probabilities for 25 and 45 years of age: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By the definition of the probability, any probability needs to stay between 0 and 1.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42110D-4920-49C8-B7BA-780A64D9E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392" y="2379788"/>
            <a:ext cx="3656677" cy="89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464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A506AC-6AAA-40F2-9D1F-FFBEDAF06E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7008" y="620954"/>
            <a:ext cx="4549812" cy="364712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B64782-6CC3-4C17-A3B8-D7B83BCD4E4E}"/>
              </a:ext>
            </a:extLst>
          </p:cNvPr>
          <p:cNvSpPr txBox="1"/>
          <p:nvPr/>
        </p:nvSpPr>
        <p:spPr>
          <a:xfrm>
            <a:off x="1069670" y="4609825"/>
            <a:ext cx="83218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below 26 years of age or so, the estimated probabilities are negative.</a:t>
            </a:r>
          </a:p>
          <a:p>
            <a:endParaRPr lang="en-US" dirty="0"/>
          </a:p>
          <a:p>
            <a:r>
              <a:rPr lang="en-US" dirty="0"/>
              <a:t>When above 44 years of age or so, the probabilities are greater than 1.</a:t>
            </a:r>
          </a:p>
        </p:txBody>
      </p:sp>
    </p:spTree>
    <p:extLst>
      <p:ext uri="{BB962C8B-B14F-4D97-AF65-F5344CB8AC3E}">
        <p14:creationId xmlns:p14="http://schemas.microsoft.com/office/powerpoint/2010/main" val="1588563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53D17-347F-47FA-8016-A4429275C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82316"/>
          </a:xfrm>
        </p:spPr>
        <p:txBody>
          <a:bodyPr/>
          <a:lstStyle/>
          <a:p>
            <a:r>
              <a:rPr lang="en-US" dirty="0"/>
              <a:t>Fixing the prior Approach (2 steps)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2B0E2-B00E-4C3A-8BBA-13E758392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0253"/>
            <a:ext cx="8596668" cy="4421109"/>
          </a:xfrm>
        </p:spPr>
        <p:txBody>
          <a:bodyPr/>
          <a:lstStyle/>
          <a:p>
            <a:r>
              <a:rPr lang="en-US" dirty="0"/>
              <a:t>First, the probability must always be positive. An exponential form would satisfy this.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Second, the probability must be at most 1. Thus we propose to use the expression we had before, and divided by something that is slightly larger, say 1.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EA8755-E375-45E0-9DD2-7D1E2C447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873" y="2472568"/>
            <a:ext cx="2020306" cy="5956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4EC83B-E14E-4C34-9EFD-91D75ACC6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016" y="4539842"/>
            <a:ext cx="2712834" cy="91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40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B60F24-AE4A-4C62-A647-42ECAC9501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3632" y="512882"/>
            <a:ext cx="4904664" cy="38139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EA413B-6371-4D51-A617-4F4EF913B177}"/>
              </a:ext>
            </a:extLst>
          </p:cNvPr>
          <p:cNvSpPr txBox="1"/>
          <p:nvPr/>
        </p:nvSpPr>
        <p:spPr>
          <a:xfrm>
            <a:off x="1042738" y="4748463"/>
            <a:ext cx="80852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customers grows older, the probability asymptotically gets closer to 1.</a:t>
            </a:r>
          </a:p>
          <a:p>
            <a:endParaRPr lang="en-US" dirty="0"/>
          </a:p>
          <a:p>
            <a:r>
              <a:rPr lang="en-US" dirty="0"/>
              <a:t>When the age approaches to the other direction, the function is asymptotically closer to 0.</a:t>
            </a:r>
          </a:p>
        </p:txBody>
      </p:sp>
    </p:spTree>
    <p:extLst>
      <p:ext uri="{BB962C8B-B14F-4D97-AF65-F5344CB8AC3E}">
        <p14:creationId xmlns:p14="http://schemas.microsoft.com/office/powerpoint/2010/main" val="688082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53717-700F-486C-ADCB-6064B2E9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66987"/>
            <a:ext cx="8596668" cy="673916"/>
          </a:xfrm>
        </p:spPr>
        <p:txBody>
          <a:bodyPr/>
          <a:lstStyle/>
          <a:p>
            <a:r>
              <a:rPr lang="en-US" dirty="0"/>
              <a:t>Log-linear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E31C3-7CF3-47A3-9956-1E29C07B7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46857"/>
            <a:ext cx="8596668" cy="3880773"/>
          </a:xfrm>
        </p:spPr>
        <p:txBody>
          <a:bodyPr/>
          <a:lstStyle/>
          <a:p>
            <a:r>
              <a:rPr lang="en-US" dirty="0"/>
              <a:t>Even if the probability of a customer subscribing is not a linear function of age, we can perform a simple transformation on it such that it is now a linear function of age.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natural log of the ratio of probabilities of 2 outcomes is called a </a:t>
            </a:r>
            <a:r>
              <a:rPr lang="en-US" i="1" dirty="0"/>
              <a:t>log odd</a:t>
            </a:r>
            <a:r>
              <a:rPr lang="en-US" dirty="0"/>
              <a:t>. This is why we must add a 1 to the denominator for a binary logistic model.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C77747-A4E7-487F-8F3F-609C6F4DF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496" y="2260259"/>
            <a:ext cx="2585486" cy="6547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4F4CE7-C027-43A3-8531-5233B7493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494" y="3120979"/>
            <a:ext cx="2585485" cy="68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634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DE6FB-CF02-4DCD-A7BC-F85F065C5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0021"/>
          </a:xfrm>
        </p:spPr>
        <p:txBody>
          <a:bodyPr/>
          <a:lstStyle/>
          <a:p>
            <a:r>
              <a:rPr lang="en-US" dirty="0"/>
              <a:t>Quantitative vs. Categorical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EC61A-845D-4353-8560-393738480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413" y="1572127"/>
            <a:ext cx="7774240" cy="4412634"/>
          </a:xfrm>
        </p:spPr>
        <p:txBody>
          <a:bodyPr/>
          <a:lstStyle/>
          <a:p>
            <a:r>
              <a:rPr lang="en-US" dirty="0"/>
              <a:t>Quantitative variables</a:t>
            </a:r>
          </a:p>
          <a:p>
            <a:r>
              <a:rPr lang="en-US" dirty="0"/>
              <a:t>--- have numerical values</a:t>
            </a:r>
          </a:p>
          <a:p>
            <a:r>
              <a:rPr lang="en-US" dirty="0"/>
              <a:t>--- Examples: age, income, height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Categorical variables</a:t>
            </a:r>
          </a:p>
          <a:p>
            <a:r>
              <a:rPr lang="en-US" dirty="0"/>
              <a:t>--- variables that fall into categories</a:t>
            </a:r>
          </a:p>
          <a:p>
            <a:r>
              <a:rPr lang="en-US" dirty="0"/>
              <a:t>--- For categories of hair color, some categorical variables would be black, red, brown.</a:t>
            </a:r>
          </a:p>
        </p:txBody>
      </p:sp>
    </p:spTree>
    <p:extLst>
      <p:ext uri="{BB962C8B-B14F-4D97-AF65-F5344CB8AC3E}">
        <p14:creationId xmlns:p14="http://schemas.microsoft.com/office/powerpoint/2010/main" val="2911968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EB545-D79F-4667-BB92-93A54C74B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Ordered  vs. Unordered categorical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B39F6-797A-4324-9E8E-658CB073A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Ordered categorical variables</a:t>
            </a:r>
          </a:p>
          <a:p>
            <a:r>
              <a:rPr lang="en-US" dirty="0"/>
              <a:t>--- need to define a factor </a:t>
            </a:r>
            <a:r>
              <a:rPr lang="en-US" b="1" dirty="0"/>
              <a:t>X </a:t>
            </a:r>
            <a:r>
              <a:rPr lang="en-US" dirty="0"/>
              <a:t>as our response</a:t>
            </a:r>
            <a:endParaRPr lang="en-US" b="1" dirty="0"/>
          </a:p>
          <a:p>
            <a:r>
              <a:rPr lang="en-US" dirty="0"/>
              <a:t>--- Example: Strongly agree, Agree, Neutral, Disagree, Strongly disagree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Unordered categorical variables</a:t>
            </a:r>
          </a:p>
          <a:p>
            <a:r>
              <a:rPr lang="en-US" dirty="0"/>
              <a:t>--- If there are N unordered categorical variables, there will be N-1 log odds.</a:t>
            </a:r>
          </a:p>
          <a:p>
            <a:r>
              <a:rPr lang="en-US" dirty="0"/>
              <a:t>--- Example: Mathematics, Engineering, History, Art</a:t>
            </a:r>
          </a:p>
          <a:p>
            <a:endParaRPr lang="en-US" dirty="0"/>
          </a:p>
          <a:p>
            <a:r>
              <a:rPr lang="en-US" dirty="0"/>
              <a:t>Whether or not we want to order categorical variables depends on what we are trying to model. </a:t>
            </a:r>
          </a:p>
        </p:txBody>
      </p:sp>
    </p:spTree>
    <p:extLst>
      <p:ext uri="{BB962C8B-B14F-4D97-AF65-F5344CB8AC3E}">
        <p14:creationId xmlns:p14="http://schemas.microsoft.com/office/powerpoint/2010/main" val="2465423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4791D-1CA7-4BAB-B5C9-DA3C30A44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3979"/>
          </a:xfrm>
        </p:spPr>
        <p:txBody>
          <a:bodyPr/>
          <a:lstStyle/>
          <a:p>
            <a:r>
              <a:rPr lang="en-US" dirty="0"/>
              <a:t>Multinomial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846DC-9BDB-4AA2-947E-BB587902B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63579"/>
            <a:ext cx="8596668" cy="4677783"/>
          </a:xfrm>
        </p:spPr>
        <p:txBody>
          <a:bodyPr/>
          <a:lstStyle/>
          <a:p>
            <a:r>
              <a:rPr lang="en-US" dirty="0"/>
              <a:t>Model unordered categorical dependent variables which takes more than 2 categories.</a:t>
            </a:r>
          </a:p>
          <a:p>
            <a:r>
              <a:rPr lang="en-US" dirty="0"/>
              <a:t>Example: Analyze how gender and age affect students’ choice of major.</a:t>
            </a:r>
          </a:p>
          <a:p>
            <a:r>
              <a:rPr lang="en-US" dirty="0"/>
              <a:t>Assume that there are 4 categories: Mathematics, Engineering, History, Art</a:t>
            </a:r>
          </a:p>
          <a:p>
            <a:r>
              <a:rPr lang="en-US" dirty="0"/>
              <a:t>Define “Art” as our base category, thus we have 3 log odds.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C7CA19-3025-48C0-BB3B-5787D253C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416" y="3396934"/>
            <a:ext cx="6412737" cy="264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954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514A-15CE-428B-8F1C-5C4466EDC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8358"/>
          </a:xfrm>
        </p:spPr>
        <p:txBody>
          <a:bodyPr>
            <a:normAutofit fontScale="90000"/>
          </a:bodyPr>
          <a:lstStyle/>
          <a:p>
            <a:r>
              <a:rPr lang="en-US" dirty="0"/>
              <a:t>Ordinal Logistic Regression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7339F-FAC4-4960-A985-E1930044C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7959"/>
            <a:ext cx="8596668" cy="4533404"/>
          </a:xfrm>
        </p:spPr>
        <p:txBody>
          <a:bodyPr/>
          <a:lstStyle/>
          <a:p>
            <a:r>
              <a:rPr lang="en-US" dirty="0"/>
              <a:t>Used to model more than two ordered categorical variables.</a:t>
            </a:r>
          </a:p>
          <a:p>
            <a:r>
              <a:rPr lang="en-US" dirty="0"/>
              <a:t>The key is to predict the partitions of several outcomes.</a:t>
            </a:r>
          </a:p>
          <a:p>
            <a:r>
              <a:rPr lang="en-US" dirty="0"/>
              <a:t>Example: Analyze whether a symptom is mild, moderate or severe.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p_{</a:t>
            </a:r>
            <a:r>
              <a:rPr lang="en-US" dirty="0" err="1"/>
              <a:t>i</a:t>
            </a:r>
            <a:r>
              <a:rPr lang="en-US" dirty="0"/>
              <a:t>} represents the probabilities of outcome less or equal to 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dirty="0"/>
              <a:t>a_{</a:t>
            </a:r>
            <a:r>
              <a:rPr lang="en-US" dirty="0" err="1"/>
              <a:t>i</a:t>
            </a:r>
            <a:r>
              <a:rPr lang="en-US" dirty="0"/>
              <a:t>} represents the intercept for an outcome less or equal to </a:t>
            </a:r>
            <a:r>
              <a:rPr lang="en-US" dirty="0" err="1"/>
              <a:t>i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560196-B2AF-4153-934C-9A86A7687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47" y="2900576"/>
            <a:ext cx="5578941" cy="87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662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4D6F-B2A5-44AD-B09D-00E430982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8147"/>
          </a:xfrm>
        </p:spPr>
        <p:txBody>
          <a:bodyPr/>
          <a:lstStyle/>
          <a:p>
            <a:r>
              <a:rPr lang="en-US" dirty="0"/>
              <a:t>Maximum Likelihood Estimation (MLE)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9181E-28E8-4AC6-8D8A-CFC110EF1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27747"/>
            <a:ext cx="8596668" cy="4613615"/>
          </a:xfrm>
        </p:spPr>
        <p:txBody>
          <a:bodyPr/>
          <a:lstStyle/>
          <a:p>
            <a:r>
              <a:rPr lang="en-US" dirty="0"/>
              <a:t>A method to estimate the parameters of logistic regressions.</a:t>
            </a:r>
          </a:p>
          <a:p>
            <a:r>
              <a:rPr lang="en-US" dirty="0"/>
              <a:t>Example: Estimate the probability that a given U.S. individual is male</a:t>
            </a:r>
          </a:p>
          <a:p>
            <a:r>
              <a:rPr lang="en-US" dirty="0"/>
              <a:t>Suppose there is a sample of </a:t>
            </a:r>
            <a:r>
              <a:rPr lang="en-US" b="1" i="1" dirty="0"/>
              <a:t>N</a:t>
            </a:r>
            <a:r>
              <a:rPr lang="en-US" dirty="0"/>
              <a:t> individuals from U.S.</a:t>
            </a:r>
          </a:p>
          <a:p>
            <a:r>
              <a:rPr lang="en-US" dirty="0"/>
              <a:t>Define the probability density function (PDF):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36FBAD-2135-4E5C-AD16-18EEADD5F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181" y="3344977"/>
            <a:ext cx="3219764" cy="6002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3CE337-A48B-4064-8E5C-A5CA42E09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596" y="3207548"/>
            <a:ext cx="1842426" cy="8751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0D4B67-106B-48E5-BA2B-A46C7F7F9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181" y="4423449"/>
            <a:ext cx="3496601" cy="100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121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A5D65-BCDE-49A3-A2EB-AAEA8BDCB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625643"/>
            <a:ext cx="8596668" cy="5415720"/>
          </a:xfrm>
        </p:spPr>
        <p:txBody>
          <a:bodyPr/>
          <a:lstStyle/>
          <a:p>
            <a:r>
              <a:rPr lang="en-US" dirty="0"/>
              <a:t>Add more supplemental observations: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Define some random variables, each of them represents the sex of a individual: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8C467-014C-44DC-857A-0653F777A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969" y="1230167"/>
            <a:ext cx="6400843" cy="11436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5AE537-D9AA-42FB-8697-32C21859A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969" y="3368212"/>
            <a:ext cx="6327003" cy="8393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42D451-8B59-4C35-873A-33C4F090C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5667" y="4589608"/>
            <a:ext cx="1040001" cy="74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173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C98F9-992B-47D1-855C-6DE13635A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11" y="631824"/>
            <a:ext cx="8596668" cy="5367594"/>
          </a:xfrm>
        </p:spPr>
        <p:txBody>
          <a:bodyPr/>
          <a:lstStyle/>
          <a:p>
            <a:r>
              <a:rPr lang="en-US" dirty="0"/>
              <a:t>Log likelihood: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D65E26-3061-4E2B-B370-BEE0B9575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424" y="1345142"/>
            <a:ext cx="4212152" cy="31011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D69093-4C77-4BCA-822B-3A4F78125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317" y="3620954"/>
            <a:ext cx="1883360" cy="8253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51A2AA-D423-405A-B980-618B65DCB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424" y="4726591"/>
            <a:ext cx="5060758" cy="54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352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2A6B6-99EA-43FB-A3C3-0428D1C6F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705853"/>
            <a:ext cx="8596668" cy="5335509"/>
          </a:xfrm>
        </p:spPr>
        <p:txBody>
          <a:bodyPr/>
          <a:lstStyle/>
          <a:p>
            <a:r>
              <a:rPr lang="en-US" dirty="0"/>
              <a:t>Find the critical point: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make sure the critical point is a maximum: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answer also maximizes the likelihood function since log function is monotonic: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92FB7DB-0912-4BB6-AD90-8944CB845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717" y="1340812"/>
            <a:ext cx="3540083" cy="7484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802B96-D8BD-4DDA-8417-2F803F347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717" y="2886391"/>
            <a:ext cx="3780715" cy="7859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245632-137F-4029-A5B2-E3E97B853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717" y="4897626"/>
            <a:ext cx="154305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6311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086C6-F45E-41D9-9E8F-46CEC25F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NBA playoff results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046A0-2F6A-48C2-A094-98AFD4FD6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used an ordinal logistic regression model.</a:t>
            </a:r>
          </a:p>
          <a:p>
            <a:r>
              <a:rPr lang="en-US" dirty="0"/>
              <a:t>I used the following data of regular season taken from basketball-reference.com to estimate playoff results:</a:t>
            </a:r>
          </a:p>
          <a:p>
            <a:r>
              <a:rPr lang="en-US" dirty="0"/>
              <a:t>--- regular season total win rate (W/L%)</a:t>
            </a:r>
          </a:p>
          <a:p>
            <a:r>
              <a:rPr lang="en-US" dirty="0"/>
              <a:t>--- points scored per game (PS/G)</a:t>
            </a:r>
          </a:p>
          <a:p>
            <a:r>
              <a:rPr lang="en-US" dirty="0"/>
              <a:t>--- points allowed per game (PA/G)</a:t>
            </a:r>
          </a:p>
          <a:p>
            <a:r>
              <a:rPr lang="en-US" dirty="0"/>
              <a:t>--- regular season matching result between the two teams (net-wins)</a:t>
            </a:r>
          </a:p>
        </p:txBody>
      </p:sp>
    </p:spTree>
    <p:extLst>
      <p:ext uri="{BB962C8B-B14F-4D97-AF65-F5344CB8AC3E}">
        <p14:creationId xmlns:p14="http://schemas.microsoft.com/office/powerpoint/2010/main" val="12153702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98556-E51A-487A-9EEF-39700F0E9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16638"/>
            <a:ext cx="8596668" cy="850232"/>
          </a:xfrm>
        </p:spPr>
        <p:txBody>
          <a:bodyPr/>
          <a:lstStyle/>
          <a:p>
            <a:r>
              <a:rPr lang="en-US" dirty="0"/>
              <a:t>Dataset (260 series)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9CBBD-8397-47AD-B1A6-B26B9D47C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17558"/>
            <a:ext cx="8596668" cy="3923804"/>
          </a:xfrm>
        </p:spPr>
        <p:txBody>
          <a:bodyPr/>
          <a:lstStyle/>
          <a:p>
            <a:r>
              <a:rPr lang="en-US" dirty="0"/>
              <a:t>Rule change: 3-point line extension in 1997-98 season</a:t>
            </a:r>
          </a:p>
          <a:p>
            <a:r>
              <a:rPr lang="en-US" dirty="0"/>
              <a:t>The first rounds of NBA playoffs were not best-of-7 series until 2002-03 season.</a:t>
            </a:r>
          </a:p>
          <a:p>
            <a:r>
              <a:rPr lang="en-US" dirty="0"/>
              <a:t>There are 15 series in each season: 1+2+4+8=15</a:t>
            </a:r>
          </a:p>
          <a:p>
            <a:r>
              <a:rPr lang="en-US" dirty="0"/>
              <a:t>7*5 + 15*15 = 260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3745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A1E4A4-4AA6-4B17-91DC-18E65706D2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043" y="177932"/>
            <a:ext cx="7643288" cy="6138978"/>
          </a:xfrm>
        </p:spPr>
      </p:pic>
    </p:spTree>
    <p:extLst>
      <p:ext uri="{BB962C8B-B14F-4D97-AF65-F5344CB8AC3E}">
        <p14:creationId xmlns:p14="http://schemas.microsoft.com/office/powerpoint/2010/main" val="5526845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F580-635E-4A1A-8D57-365E68A2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50232"/>
          </a:xfrm>
        </p:spPr>
        <p:txBody>
          <a:bodyPr/>
          <a:lstStyle/>
          <a:p>
            <a:r>
              <a:rPr lang="en-US" dirty="0"/>
              <a:t>Modifications to my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BB249-1BFD-4EFB-80AD-720C32633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8589"/>
            <a:ext cx="8596668" cy="4292773"/>
          </a:xfrm>
        </p:spPr>
        <p:txBody>
          <a:bodyPr/>
          <a:lstStyle/>
          <a:p>
            <a:r>
              <a:rPr lang="en-US" dirty="0"/>
              <a:t>1. All independent variables (predictors) should be numbers, so I calculated the differences of all predictors.</a:t>
            </a:r>
          </a:p>
          <a:p>
            <a:r>
              <a:rPr lang="en-US" dirty="0"/>
              <a:t> 2. The original dataset was ordered by the winners first, so I flipped half of the 4-0 series into 0-4, negating the 4 independent variables (predictors) at the same time. Then I performed the same operation to half of the 4-1, 4-2, 4-3 series.</a:t>
            </a:r>
          </a:p>
          <a:p>
            <a:r>
              <a:rPr lang="en-US" dirty="0"/>
              <a:t>3. Define an ordered factor </a:t>
            </a:r>
            <a:r>
              <a:rPr lang="en-US" b="1" dirty="0"/>
              <a:t>X</a:t>
            </a:r>
            <a:r>
              <a:rPr lang="en-US" dirty="0"/>
              <a:t> for all of our possible outcomes.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1F987F-AD69-4020-AC6B-445B79536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201" y="4095273"/>
            <a:ext cx="1599808" cy="223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4751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928637-0DC3-4AA1-A2F0-23A7418D2A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3949" y="201031"/>
            <a:ext cx="6331251" cy="6268772"/>
          </a:xfrm>
        </p:spPr>
      </p:pic>
    </p:spTree>
    <p:extLst>
      <p:ext uri="{BB962C8B-B14F-4D97-AF65-F5344CB8AC3E}">
        <p14:creationId xmlns:p14="http://schemas.microsoft.com/office/powerpoint/2010/main" val="11987104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84253-0533-40EA-8658-3AAE05112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66274"/>
          </a:xfrm>
        </p:spPr>
        <p:txBody>
          <a:bodyPr/>
          <a:lstStyle/>
          <a:p>
            <a:r>
              <a:rPr lang="en-US" dirty="0"/>
              <a:t>Simulation in </a:t>
            </a:r>
            <a:r>
              <a:rPr lang="en-US" i="1" dirty="0"/>
              <a:t>R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A651E-0D73-4661-A160-D2B7F698D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4211"/>
            <a:ext cx="8596668" cy="4437151"/>
          </a:xfrm>
        </p:spPr>
        <p:txBody>
          <a:bodyPr/>
          <a:lstStyle/>
          <a:p>
            <a:r>
              <a:rPr lang="en-US" dirty="0"/>
              <a:t>I fed in the data of the first 19 seasons to build the ordinal logistic regression model, and then test the model using the data of the last season.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990271-66D0-4DD8-BFE1-454D9D4D5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284" y="2867594"/>
            <a:ext cx="7887826" cy="159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0810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51116-A66E-44C5-8423-FC1A3C8D4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3979"/>
          </a:xfrm>
        </p:spPr>
        <p:txBody>
          <a:bodyPr/>
          <a:lstStyle/>
          <a:p>
            <a:r>
              <a:rPr lang="en-US" dirty="0"/>
              <a:t>Testing results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FEB3C9B-EEBA-4A07-92DC-3B1C3EEA20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9359" y="1867662"/>
            <a:ext cx="7843344" cy="3122676"/>
          </a:xfrm>
        </p:spPr>
      </p:pic>
    </p:spTree>
    <p:extLst>
      <p:ext uri="{BB962C8B-B14F-4D97-AF65-F5344CB8AC3E}">
        <p14:creationId xmlns:p14="http://schemas.microsoft.com/office/powerpoint/2010/main" val="34924415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24BCE-D292-40D9-BEA7-02A144C7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66274"/>
          </a:xfrm>
        </p:spPr>
        <p:txBody>
          <a:bodyPr/>
          <a:lstStyle/>
          <a:p>
            <a:r>
              <a:rPr lang="en-US" dirty="0"/>
              <a:t>Test how the model performs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13AF3-457B-4171-ADED-E83E8E123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75875"/>
            <a:ext cx="8596668" cy="4565488"/>
          </a:xfrm>
        </p:spPr>
        <p:txBody>
          <a:bodyPr/>
          <a:lstStyle/>
          <a:p>
            <a:r>
              <a:rPr lang="en-US" dirty="0"/>
              <a:t>1.  Predict which team is going to win the series</a:t>
            </a:r>
          </a:p>
          <a:p>
            <a:r>
              <a:rPr lang="en-US" dirty="0"/>
              <a:t>2. If the actual result lands on a simulated probability greater than 10%. 10% is an arbitrary value just to test how the model performs, and is not based on any metric.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A1CAE9-83D7-46E2-B033-77E82086B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1" y="2822733"/>
            <a:ext cx="8712031" cy="30604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29A0CA-213B-46AF-AA81-26E1F0045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487" y="609599"/>
            <a:ext cx="1488404" cy="78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6463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2193C-B85B-4E08-B8A8-56F283063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56" y="223707"/>
            <a:ext cx="8596668" cy="531302"/>
          </a:xfrm>
        </p:spPr>
        <p:txBody>
          <a:bodyPr>
            <a:normAutofit/>
          </a:bodyPr>
          <a:lstStyle/>
          <a:p>
            <a:r>
              <a:rPr lang="en-US" sz="2400" dirty="0"/>
              <a:t>Prediction of this season’s playoff results (first round)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A7DE1E-DBC3-4BB6-8B28-1A828083B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0138" y="822121"/>
            <a:ext cx="6471560" cy="5461233"/>
          </a:xfrm>
        </p:spPr>
      </p:pic>
    </p:spTree>
    <p:extLst>
      <p:ext uri="{BB962C8B-B14F-4D97-AF65-F5344CB8AC3E}">
        <p14:creationId xmlns:p14="http://schemas.microsoft.com/office/powerpoint/2010/main" val="33454185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02B0B9-EBC8-4326-B5EF-8FCE2802A3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2052" y="393715"/>
            <a:ext cx="7157486" cy="5830916"/>
          </a:xfrm>
        </p:spPr>
      </p:pic>
    </p:spTree>
    <p:extLst>
      <p:ext uri="{BB962C8B-B14F-4D97-AF65-F5344CB8AC3E}">
        <p14:creationId xmlns:p14="http://schemas.microsoft.com/office/powerpoint/2010/main" val="2810266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8DD75-33F4-4D47-8734-6184AA152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66274"/>
          </a:xfrm>
        </p:spPr>
        <p:txBody>
          <a:bodyPr/>
          <a:lstStyle/>
          <a:p>
            <a:r>
              <a:rPr lang="en-US" dirty="0"/>
              <a:t>Importance of each predictor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59DA3-0FDA-4060-A202-C93465766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0253"/>
            <a:ext cx="8596668" cy="4421109"/>
          </a:xfrm>
        </p:spPr>
        <p:txBody>
          <a:bodyPr/>
          <a:lstStyle/>
          <a:p>
            <a:r>
              <a:rPr lang="en-US" dirty="0"/>
              <a:t>If zero lies in the confidence interval of a coefficient, then the corresponding predictor is not significant.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9BC190-0505-4E34-B455-464A5ECC2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433" y="2958124"/>
            <a:ext cx="6060356" cy="184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7831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46143-FBCA-4FF4-8B44-17AA7C090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2972"/>
          </a:xfrm>
        </p:spPr>
        <p:txBody>
          <a:bodyPr/>
          <a:lstStyle/>
          <a:p>
            <a:r>
              <a:rPr lang="en-US" dirty="0"/>
              <a:t>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0E57A-2086-45EB-B98A-4DB37A73E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4243"/>
            <a:ext cx="8596668" cy="4397120"/>
          </a:xfrm>
        </p:spPr>
        <p:txBody>
          <a:bodyPr/>
          <a:lstStyle/>
          <a:p>
            <a:r>
              <a:rPr lang="en-US" dirty="0"/>
              <a:t>1. Use points differential instead of net-wins</a:t>
            </a:r>
          </a:p>
          <a:p>
            <a:r>
              <a:rPr lang="en-US" dirty="0"/>
              <a:t>2. Delete exceptional data</a:t>
            </a:r>
          </a:p>
        </p:txBody>
      </p:sp>
    </p:spTree>
    <p:extLst>
      <p:ext uri="{BB962C8B-B14F-4D97-AF65-F5344CB8AC3E}">
        <p14:creationId xmlns:p14="http://schemas.microsoft.com/office/powerpoint/2010/main" val="32942130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EE6CA-C50E-483B-87F8-B2DF1523A6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Questions?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EDFD3-5D45-4963-ADBB-DBC8A8D185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403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F0708-7989-46BD-A92F-58751CDFA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2105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90C761-536E-41D2-86E7-8229925B03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6747" y="1628032"/>
            <a:ext cx="7157627" cy="3168042"/>
          </a:xfrm>
        </p:spPr>
      </p:pic>
    </p:spTree>
    <p:extLst>
      <p:ext uri="{BB962C8B-B14F-4D97-AF65-F5344CB8AC3E}">
        <p14:creationId xmlns:p14="http://schemas.microsoft.com/office/powerpoint/2010/main" val="5105127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420</TotalTime>
  <Words>1379</Words>
  <Application>Microsoft Office PowerPoint</Application>
  <PresentationFormat>Widescreen</PresentationFormat>
  <Paragraphs>198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Trebuchet MS</vt:lpstr>
      <vt:lpstr>Wingdings 3</vt:lpstr>
      <vt:lpstr>Facet</vt:lpstr>
      <vt:lpstr>Using a Regression Model to analyze NBA Statistics </vt:lpstr>
      <vt:lpstr>Two Main Objectives of Regression Models</vt:lpstr>
      <vt:lpstr>Variable’s Roles</vt:lpstr>
      <vt:lpstr>Simple Linear Regression</vt:lpstr>
      <vt:lpstr>Example: Consumption vs. Income</vt:lpstr>
      <vt:lpstr>Multiple Linear Regression</vt:lpstr>
      <vt:lpstr>PowerPoint Presentation</vt:lpstr>
      <vt:lpstr>Example: Analyzing how Turnovers and Shooting percentage affect total points scored </vt:lpstr>
      <vt:lpstr>The method of Least Squares</vt:lpstr>
      <vt:lpstr>PowerPoint Presentation</vt:lpstr>
      <vt:lpstr>PowerPoint Presentation</vt:lpstr>
      <vt:lpstr>Examples of Binary Outcomes</vt:lpstr>
      <vt:lpstr>Representing the Binary Outcomes</vt:lpstr>
      <vt:lpstr>Problem of this linear model</vt:lpstr>
      <vt:lpstr>PowerPoint Presentation</vt:lpstr>
      <vt:lpstr>Fixing the prior Approach (2 steps) </vt:lpstr>
      <vt:lpstr>PowerPoint Presentation</vt:lpstr>
      <vt:lpstr>Log-linear modeling</vt:lpstr>
      <vt:lpstr>Quantitative vs. Categorical variables</vt:lpstr>
      <vt:lpstr>Ordered  vs. Unordered categorical variables</vt:lpstr>
      <vt:lpstr>Multinomial logistic regression</vt:lpstr>
      <vt:lpstr>Ordinal Logistic Regression </vt:lpstr>
      <vt:lpstr>Maximum Likelihood Estimation (MLE)</vt:lpstr>
      <vt:lpstr>PowerPoint Presentation</vt:lpstr>
      <vt:lpstr>PowerPoint Presentation</vt:lpstr>
      <vt:lpstr>PowerPoint Presentation</vt:lpstr>
      <vt:lpstr>Case Study: NBA playoff results estimation</vt:lpstr>
      <vt:lpstr>Dataset (260 series)</vt:lpstr>
      <vt:lpstr>PowerPoint Presentation</vt:lpstr>
      <vt:lpstr>Modifications to my dataset</vt:lpstr>
      <vt:lpstr>PowerPoint Presentation</vt:lpstr>
      <vt:lpstr>Simulation in R Studio</vt:lpstr>
      <vt:lpstr>Testing results</vt:lpstr>
      <vt:lpstr>Test how the model performs</vt:lpstr>
      <vt:lpstr>Prediction of this season’s playoff results (first round)</vt:lpstr>
      <vt:lpstr>PowerPoint Presentation</vt:lpstr>
      <vt:lpstr>Importance of each predictor</vt:lpstr>
      <vt:lpstr>Improvements</vt:lpstr>
      <vt:lpstr>Questions?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a Regression Model to analyze NBA Statistics</dc:title>
  <dc:creator>Shuyu Jia</dc:creator>
  <cp:lastModifiedBy>Shuyu Jia</cp:lastModifiedBy>
  <cp:revision>31</cp:revision>
  <dcterms:created xsi:type="dcterms:W3CDTF">2018-05-04T02:51:57Z</dcterms:created>
  <dcterms:modified xsi:type="dcterms:W3CDTF">2018-05-04T09:52:12Z</dcterms:modified>
</cp:coreProperties>
</file>